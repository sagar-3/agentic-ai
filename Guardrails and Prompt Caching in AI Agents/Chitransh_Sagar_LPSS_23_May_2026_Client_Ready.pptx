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3"/>
  </p:notesMasterIdLst>
  <p:sldIdLst>
    <p:sldId id="326" r:id="rId5"/>
    <p:sldId id="306" r:id="rId6"/>
    <p:sldId id="303" r:id="rId7"/>
    <p:sldId id="332" r:id="rId8"/>
    <p:sldId id="331" r:id="rId9"/>
    <p:sldId id="327" r:id="rId10"/>
    <p:sldId id="304" r:id="rId11"/>
    <p:sldId id="311" r:id="rId12"/>
    <p:sldId id="343" r:id="rId13"/>
    <p:sldId id="313" r:id="rId14"/>
    <p:sldId id="314" r:id="rId15"/>
    <p:sldId id="315" r:id="rId16"/>
    <p:sldId id="316" r:id="rId17"/>
    <p:sldId id="317" r:id="rId18"/>
    <p:sldId id="330" r:id="rId19"/>
    <p:sldId id="329" r:id="rId20"/>
    <p:sldId id="318" r:id="rId21"/>
    <p:sldId id="353" r:id="rId22"/>
    <p:sldId id="356" r:id="rId23"/>
    <p:sldId id="333" r:id="rId24"/>
    <p:sldId id="341" r:id="rId25"/>
    <p:sldId id="347" r:id="rId26"/>
    <p:sldId id="344" r:id="rId27"/>
    <p:sldId id="348" r:id="rId28"/>
    <p:sldId id="322" r:id="rId29"/>
    <p:sldId id="355" r:id="rId30"/>
    <p:sldId id="308" r:id="rId31"/>
    <p:sldId id="35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A748-8211-4562-9085-79AA56E1CDB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AD900-65CC-4924-97D0-24B9BFACB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5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89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ai/openai-guardrails-python" TargetMode="External"/><Relationship Id="rId2" Type="http://schemas.openxmlformats.org/officeDocument/2006/relationships/hyperlink" Target="https://guardrails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VIDIA-NeMo/Guardrails" TargetMode="External"/><Relationship Id="rId5" Type="http://schemas.openxmlformats.org/officeDocument/2006/relationships/hyperlink" Target="https://github.com/microsoft/PyRIT" TargetMode="External"/><Relationship Id="rId4" Type="http://schemas.openxmlformats.org/officeDocument/2006/relationships/hyperlink" Target="https://github.com/meta-llama/PurpleLlama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openai.com/api/docs/guides/prompt-caching/" TargetMode="External"/><Relationship Id="rId2" Type="http://schemas.openxmlformats.org/officeDocument/2006/relationships/hyperlink" Target="https://www.datacamp.com/courses/large-language-models-llms-concept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8C8C-D56D-C85D-97AB-EA34BE41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ABF500-F253-8705-9CF7-91A1B61BB6CF}"/>
              </a:ext>
            </a:extLst>
          </p:cNvPr>
          <p:cNvSpPr txBox="1"/>
          <p:nvPr/>
        </p:nvSpPr>
        <p:spPr>
          <a:xfrm>
            <a:off x="237565" y="1497988"/>
            <a:ext cx="11716870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  <a:p>
            <a:pPr algn="ctr"/>
            <a:r>
              <a:rPr lang="en-US" sz="4800" b="1" dirty="0">
                <a:solidFill>
                  <a:srgbClr val="00B050"/>
                </a:solidFill>
                <a:latin typeface="Verdana Pro"/>
                <a:cs typeface="Calibri"/>
              </a:rPr>
              <a:t> Guardrails and Prompt Caching</a:t>
            </a:r>
          </a:p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  <a:p>
            <a:pPr algn="ctr"/>
            <a:r>
              <a:rPr lang="en-US" sz="2800" i="1" u="sng" dirty="0">
                <a:solidFill>
                  <a:schemeClr val="bg1"/>
                </a:solidFill>
              </a:rPr>
              <a:t>Understanding Safety and Efficiency in AI Agents</a:t>
            </a:r>
            <a:endParaRPr lang="en-US" sz="4800" b="1" i="1" u="sng" dirty="0">
              <a:solidFill>
                <a:schemeClr val="bg1"/>
              </a:solidFill>
              <a:latin typeface="Verdan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95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EF4B-80D9-57FF-BBCA-97888FA8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2C05EE-59EC-320C-184A-D2037FB31144}"/>
              </a:ext>
            </a:extLst>
          </p:cNvPr>
          <p:cNvSpPr txBox="1"/>
          <p:nvPr/>
        </p:nvSpPr>
        <p:spPr>
          <a:xfrm>
            <a:off x="0" y="958513"/>
            <a:ext cx="1171687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  <a:p>
            <a:pPr algn="ctr"/>
            <a:endParaRPr lang="en-US" sz="2800" b="1" i="1" u="sng" dirty="0">
              <a:solidFill>
                <a:schemeClr val="bg1"/>
              </a:solidFill>
              <a:latin typeface="Verdana Pro"/>
              <a:cs typeface="Calibri"/>
            </a:endParaRPr>
          </a:p>
          <a:p>
            <a:pPr algn="ctr"/>
            <a:r>
              <a:rPr lang="en-US" sz="2800" i="1" u="sng" dirty="0">
                <a:solidFill>
                  <a:srgbClr val="FF0000"/>
                </a:solidFill>
              </a:rPr>
              <a:t>A model that generates high-quality outputs but not safe, too slow and expensive to run will not be useful</a:t>
            </a:r>
          </a:p>
          <a:p>
            <a:pPr algn="ctr"/>
            <a:endParaRPr lang="en-US" sz="2800" i="1" u="sng" dirty="0">
              <a:solidFill>
                <a:schemeClr val="bg1"/>
              </a:solidFill>
            </a:endParaRPr>
          </a:p>
          <a:p>
            <a:pPr algn="ctr"/>
            <a:r>
              <a:rPr lang="en-US" sz="2800" i="1" u="sng" dirty="0">
                <a:solidFill>
                  <a:schemeClr val="bg1"/>
                </a:solidFill>
              </a:rPr>
              <a:t>Guardrails make AI safe, caching makes AI fast</a:t>
            </a:r>
          </a:p>
          <a:p>
            <a:pPr algn="ctr"/>
            <a:endParaRPr lang="en-US" sz="2800" i="1" u="sng" dirty="0">
              <a:solidFill>
                <a:schemeClr val="bg1"/>
              </a:solidFill>
            </a:endParaRPr>
          </a:p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664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694194-C900-741E-CEF5-379C8D1EB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508" y="2360985"/>
            <a:ext cx="2685926" cy="26859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0E560D-97E1-EC9D-BAFB-68689A1795E1}"/>
              </a:ext>
            </a:extLst>
          </p:cNvPr>
          <p:cNvSpPr txBox="1"/>
          <p:nvPr/>
        </p:nvSpPr>
        <p:spPr>
          <a:xfrm>
            <a:off x="970582" y="112982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About Me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B5F36-A385-26DE-6269-28E0E8429BDD}"/>
              </a:ext>
            </a:extLst>
          </p:cNvPr>
          <p:cNvSpPr txBox="1"/>
          <p:nvPr/>
        </p:nvSpPr>
        <p:spPr>
          <a:xfrm>
            <a:off x="4517246" y="2940598"/>
            <a:ext cx="3447291" cy="19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bg1"/>
                </a:solidFill>
              </a:rPr>
              <a:t>Sagar Chitransh</a:t>
            </a: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bg1"/>
                </a:solidFill>
              </a:rPr>
              <a:t>Senior Consultant | AI Engineer III</a:t>
            </a:r>
            <a:endParaRPr lang="en-GB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</a:rPr>
              <a:t>Deloitte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</a:rPr>
              <a:t>IIT Jodhpur (Rajasthan) Alumnus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344907-FB7C-858B-5E44-D568E60178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558" y="4861690"/>
            <a:ext cx="697753" cy="6977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F5169-DD91-EEC8-E1B1-D9D98397B2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89" y="2064245"/>
            <a:ext cx="3164388" cy="3164388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322794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F47A0-8B9D-0ED0-436B-4676CFDC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E2F5D-5B9F-1C6C-9C83-B2A1DBA99AD0}"/>
              </a:ext>
            </a:extLst>
          </p:cNvPr>
          <p:cNvSpPr txBox="1"/>
          <p:nvPr/>
        </p:nvSpPr>
        <p:spPr>
          <a:xfrm>
            <a:off x="-295836" y="82053"/>
            <a:ext cx="56029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Verdana Pro"/>
                <a:cs typeface="Calibri"/>
              </a:rPr>
              <a:t>AI Engineering Architecture </a:t>
            </a:r>
          </a:p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D0B1B-D7C6-0E32-A56D-F3A98DAF7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77" y="882083"/>
            <a:ext cx="7415629" cy="1905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6C9190-3B03-A059-E643-7F92EF19A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964" y="3101988"/>
            <a:ext cx="7971454" cy="2287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6B4ACD-F167-3194-642E-2BA0C535A8C1}"/>
              </a:ext>
            </a:extLst>
          </p:cNvPr>
          <p:cNvSpPr txBox="1"/>
          <p:nvPr/>
        </p:nvSpPr>
        <p:spPr>
          <a:xfrm>
            <a:off x="9332259" y="2501320"/>
            <a:ext cx="128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MVP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E49B3-68DF-7290-E101-EC659C56E6DB}"/>
              </a:ext>
            </a:extLst>
          </p:cNvPr>
          <p:cNvSpPr txBox="1"/>
          <p:nvPr/>
        </p:nvSpPr>
        <p:spPr>
          <a:xfrm>
            <a:off x="9269506" y="5652751"/>
            <a:ext cx="3003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Source : AI Engineering </a:t>
            </a:r>
            <a:r>
              <a:rPr lang="en-IN" b="1" dirty="0">
                <a:solidFill>
                  <a:srgbClr val="FF0000"/>
                </a:solidFill>
              </a:rPr>
              <a:t>O’REILLY</a:t>
            </a:r>
          </a:p>
        </p:txBody>
      </p:sp>
    </p:spTree>
    <p:extLst>
      <p:ext uri="{BB962C8B-B14F-4D97-AF65-F5344CB8AC3E}">
        <p14:creationId xmlns:p14="http://schemas.microsoft.com/office/powerpoint/2010/main" val="9084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CB63-4127-9205-3B4B-C379CFE47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26F64D-1BBF-A7AB-C844-8E4AF49EF58B}"/>
              </a:ext>
            </a:extLst>
          </p:cNvPr>
          <p:cNvSpPr txBox="1"/>
          <p:nvPr/>
        </p:nvSpPr>
        <p:spPr>
          <a:xfrm>
            <a:off x="-448235" y="99982"/>
            <a:ext cx="45988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Verdana Pro"/>
                <a:cs typeface="Calibri"/>
              </a:rPr>
              <a:t>Real Time Examples</a:t>
            </a:r>
          </a:p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925AC-0362-4FA3-F314-73BB698B7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7" y="572647"/>
            <a:ext cx="10187288" cy="727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1246D7-F98B-F815-8FF6-8D649F83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47" y="1497515"/>
            <a:ext cx="4216794" cy="4048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5023F0-612A-B22E-9136-88B4C18C6286}"/>
              </a:ext>
            </a:extLst>
          </p:cNvPr>
          <p:cNvSpPr txBox="1"/>
          <p:nvPr/>
        </p:nvSpPr>
        <p:spPr>
          <a:xfrm>
            <a:off x="9269506" y="5652751"/>
            <a:ext cx="3003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Source : AI Engineering </a:t>
            </a:r>
            <a:r>
              <a:rPr lang="en-IN" b="1" dirty="0">
                <a:solidFill>
                  <a:srgbClr val="FF0000"/>
                </a:solidFill>
              </a:rPr>
              <a:t>O’REILLY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3F0B6-F275-FE21-FA2A-C5567CB1D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481" y="2359393"/>
            <a:ext cx="6951437" cy="1910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1DCB0D-7E7E-C129-3335-494F4ED17DDA}"/>
              </a:ext>
            </a:extLst>
          </p:cNvPr>
          <p:cNvSpPr txBox="1"/>
          <p:nvPr/>
        </p:nvSpPr>
        <p:spPr>
          <a:xfrm>
            <a:off x="1398494" y="5657737"/>
            <a:ext cx="300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SAFETY CHALLENGES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B78B9-8076-21AA-24AD-B9C436CB49EC}"/>
              </a:ext>
            </a:extLst>
          </p:cNvPr>
          <p:cNvSpPr txBox="1"/>
          <p:nvPr/>
        </p:nvSpPr>
        <p:spPr>
          <a:xfrm>
            <a:off x="7180731" y="4501290"/>
            <a:ext cx="300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COST/BUDGET CHALLENGES</a:t>
            </a:r>
          </a:p>
        </p:txBody>
      </p:sp>
    </p:spTree>
    <p:extLst>
      <p:ext uri="{BB962C8B-B14F-4D97-AF65-F5344CB8AC3E}">
        <p14:creationId xmlns:p14="http://schemas.microsoft.com/office/powerpoint/2010/main" val="2836195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BAE9-7954-69A0-4D79-5B9A6436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7CC60E-E19A-45FE-E83A-6A62B1C65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928" y="978957"/>
            <a:ext cx="7430144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1A05-9AB2-5317-828C-7DEEA6B01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8B92F7-99EE-8BFB-EC40-D2599A94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43" y="690748"/>
            <a:ext cx="7369163" cy="54765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CF33F-CD89-B4CE-FDBA-3FA4A1FC9DEF}"/>
              </a:ext>
            </a:extLst>
          </p:cNvPr>
          <p:cNvSpPr txBox="1"/>
          <p:nvPr/>
        </p:nvSpPr>
        <p:spPr>
          <a:xfrm>
            <a:off x="62753" y="708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solidFill>
                  <a:srgbClr val="92D050"/>
                </a:solidFill>
              </a:rPr>
              <a:t>Block Diagram showing guardrails and caching </a:t>
            </a:r>
            <a:endParaRPr lang="en-IN" sz="1800" u="sng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04D24-7772-867C-168C-00139C76C656}"/>
              </a:ext>
            </a:extLst>
          </p:cNvPr>
          <p:cNvSpPr txBox="1"/>
          <p:nvPr/>
        </p:nvSpPr>
        <p:spPr>
          <a:xfrm>
            <a:off x="8462681" y="2257257"/>
            <a:ext cx="3101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u="sng" dirty="0">
                <a:solidFill>
                  <a:srgbClr val="92D050"/>
                </a:solidFill>
              </a:rPr>
              <a:t>Guardrails : Protects the system</a:t>
            </a:r>
          </a:p>
          <a:p>
            <a:endParaRPr lang="en-IN" i="1" u="sng" dirty="0">
              <a:solidFill>
                <a:srgbClr val="92D050"/>
              </a:solidFill>
            </a:endParaRPr>
          </a:p>
          <a:p>
            <a:r>
              <a:rPr lang="en-IN" i="1" u="sng" dirty="0">
                <a:solidFill>
                  <a:srgbClr val="92D050"/>
                </a:solidFill>
              </a:rPr>
              <a:t>Caching : Makes the system faster, reduce latency, reuse tokens</a:t>
            </a:r>
          </a:p>
        </p:txBody>
      </p:sp>
    </p:spTree>
    <p:extLst>
      <p:ext uri="{BB962C8B-B14F-4D97-AF65-F5344CB8AC3E}">
        <p14:creationId xmlns:p14="http://schemas.microsoft.com/office/powerpoint/2010/main" val="369994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12A3-118D-3407-6F77-0621167D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14562B-CB35-A22A-252A-F204FE11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1" y="175478"/>
            <a:ext cx="5253946" cy="2711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CDBFEE-A0F3-2AB0-8430-CDAF3C703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395" y="2989023"/>
            <a:ext cx="4294817" cy="31998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6B3ECE-2EC5-B79F-3A27-6AE6DEE568D4}"/>
              </a:ext>
            </a:extLst>
          </p:cNvPr>
          <p:cNvSpPr txBox="1"/>
          <p:nvPr/>
        </p:nvSpPr>
        <p:spPr>
          <a:xfrm>
            <a:off x="268941" y="5542544"/>
            <a:ext cx="300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Source : </a:t>
            </a:r>
            <a:r>
              <a:rPr lang="en-IN" dirty="0">
                <a:solidFill>
                  <a:srgbClr val="00B050"/>
                </a:solidFill>
              </a:rPr>
              <a:t>BCG News Letter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945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E0548-606E-05D5-62E4-835A793B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AF8DE-C6C1-7E0A-1E18-DF991DD6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19" y="946124"/>
            <a:ext cx="8817104" cy="4282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8AE256-E5C0-D729-C976-1799BE1573FD}"/>
              </a:ext>
            </a:extLst>
          </p:cNvPr>
          <p:cNvSpPr txBox="1"/>
          <p:nvPr/>
        </p:nvSpPr>
        <p:spPr>
          <a:xfrm>
            <a:off x="206188" y="127861"/>
            <a:ext cx="300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Guardrails Intuition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83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7319-090E-96CC-89B1-0DF7CB70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309191-19A6-87F1-249A-809C29E0C845}"/>
              </a:ext>
            </a:extLst>
          </p:cNvPr>
          <p:cNvSpPr txBox="1"/>
          <p:nvPr/>
        </p:nvSpPr>
        <p:spPr>
          <a:xfrm>
            <a:off x="89648" y="82516"/>
            <a:ext cx="118423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Guardrails are the safety mechanism that controls what goes into and comes out of AI Agents. They sit around your agent pipeline and ensure the agent :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92D050"/>
                </a:solidFill>
              </a:rPr>
              <a:t>Only processes safe, appropriate inputs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92D050"/>
                </a:solidFill>
              </a:rPr>
              <a:t>Only performs approved actions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92D050"/>
                </a:solidFill>
              </a:rPr>
              <a:t>Only returns validated and compliant outputs.</a:t>
            </a:r>
          </a:p>
          <a:p>
            <a:pPr marL="342900" indent="-342900">
              <a:buAutoNum type="arabicPeriod"/>
            </a:pPr>
            <a:endParaRPr lang="en-IN" dirty="0">
              <a:solidFill>
                <a:srgbClr val="92D050"/>
              </a:solidFill>
            </a:endParaRPr>
          </a:p>
          <a:p>
            <a:r>
              <a:rPr lang="en-IN" i="1" dirty="0">
                <a:solidFill>
                  <a:schemeClr val="bg1"/>
                </a:solidFill>
              </a:rPr>
              <a:t>Guardrails help mitigate risks and protect you and your users. They should be placed where there are exposure to risks.</a:t>
            </a:r>
          </a:p>
          <a:p>
            <a:pPr marL="342900" indent="-342900">
              <a:buAutoNum type="arabicPeriod"/>
            </a:pPr>
            <a:endParaRPr lang="en-IN" dirty="0">
              <a:solidFill>
                <a:srgbClr val="92D050"/>
              </a:solidFill>
            </a:endParaRPr>
          </a:p>
          <a:p>
            <a:endParaRPr lang="en-IN" dirty="0">
              <a:solidFill>
                <a:srgbClr val="92D05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F3DC6A-4C77-8BAA-8EB6-508549F98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1" y="2607271"/>
            <a:ext cx="7933765" cy="3175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BB2EAC-5FFB-E76D-2AC0-2CC74588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457" y="2607271"/>
            <a:ext cx="3854020" cy="1698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223C8B-ED86-8E28-2D8F-69ADCDC47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19" y="4532252"/>
            <a:ext cx="3467400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26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4AE9-E665-F4AA-7B30-A2BAD13E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56837F-3E06-B277-3C79-F3D18A66BBCC}"/>
              </a:ext>
            </a:extLst>
          </p:cNvPr>
          <p:cNvSpPr txBox="1"/>
          <p:nvPr/>
        </p:nvSpPr>
        <p:spPr>
          <a:xfrm>
            <a:off x="62753" y="708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solidFill>
                  <a:srgbClr val="92D050"/>
                </a:solidFill>
              </a:rPr>
              <a:t>Without Guardrails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4861E-950B-0074-32BE-99C4D6D4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65" y="1483861"/>
            <a:ext cx="8462423" cy="352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13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24111-A673-AE49-F343-8139D6B0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FD4883-0594-FA06-5A0D-CFE1B5B9D998}"/>
              </a:ext>
            </a:extLst>
          </p:cNvPr>
          <p:cNvSpPr txBox="1"/>
          <p:nvPr/>
        </p:nvSpPr>
        <p:spPr>
          <a:xfrm>
            <a:off x="152400" y="1425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solidFill>
                  <a:srgbClr val="92D050"/>
                </a:solidFill>
              </a:rPr>
              <a:t>With Guardrails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3911B7-EE1B-2977-695D-83915AF0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580" y="654061"/>
            <a:ext cx="6767146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9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1BB7A-7D21-EA2E-C0F1-3E85D1E33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6DD98-272C-91BD-FEC1-CCAD1F45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84" y="977196"/>
            <a:ext cx="8154833" cy="472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92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319D-A497-BA68-647A-74E38304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E28288-2BDD-3189-18D1-2FDBA18BD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840" y="654981"/>
            <a:ext cx="8098759" cy="5548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409F94-AB8D-D338-6027-5D7EB229177D}"/>
              </a:ext>
            </a:extLst>
          </p:cNvPr>
          <p:cNvSpPr txBox="1"/>
          <p:nvPr/>
        </p:nvSpPr>
        <p:spPr>
          <a:xfrm>
            <a:off x="107575" y="70828"/>
            <a:ext cx="7754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solidFill>
                  <a:srgbClr val="92D050"/>
                </a:solidFill>
              </a:rPr>
              <a:t>Code Demo : Implementing Guardrails using Langchain (Middleware)</a:t>
            </a:r>
          </a:p>
        </p:txBody>
      </p:sp>
    </p:spTree>
    <p:extLst>
      <p:ext uri="{BB962C8B-B14F-4D97-AF65-F5344CB8AC3E}">
        <p14:creationId xmlns:p14="http://schemas.microsoft.com/office/powerpoint/2010/main" val="3146137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1E730-826B-3C6A-DADE-4C0803A2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1B6D9E-1A53-F401-E0A2-629E643E9600}"/>
              </a:ext>
            </a:extLst>
          </p:cNvPr>
          <p:cNvSpPr txBox="1"/>
          <p:nvPr/>
        </p:nvSpPr>
        <p:spPr>
          <a:xfrm>
            <a:off x="179294" y="16136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50"/>
                </a:solidFill>
                <a:latin typeface="Verdana Pro"/>
                <a:cs typeface="Calibri"/>
              </a:rPr>
              <a:t>Real Time Guardrails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482F4-2F6B-267D-4E2D-9E7F8F4F4926}"/>
              </a:ext>
            </a:extLst>
          </p:cNvPr>
          <p:cNvSpPr txBox="1"/>
          <p:nvPr/>
        </p:nvSpPr>
        <p:spPr>
          <a:xfrm>
            <a:off x="179294" y="192652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hlinkClick r:id="rId2"/>
              </a:rPr>
              <a:t>https://guardrails.openai.com/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linkClick r:id="rId3"/>
              </a:rPr>
              <a:t>https://github.com/openai/openai-guardrails-python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linkClick r:id="rId4"/>
              </a:rPr>
              <a:t>https://github.com/meta-llama/PurpleLlama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linkClick r:id="rId5"/>
              </a:rPr>
              <a:t>https://github.com/microsoft/PyRIT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linkClick r:id="rId6"/>
              </a:rPr>
              <a:t>https://github.com/NVIDIA-NeMo/Guardrails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201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BBF0B-0CFE-20BE-02BA-31D2E13D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8A950-C3EA-7E5D-A056-6FD9164C2B4D}"/>
              </a:ext>
            </a:extLst>
          </p:cNvPr>
          <p:cNvSpPr txBox="1"/>
          <p:nvPr/>
        </p:nvSpPr>
        <p:spPr>
          <a:xfrm>
            <a:off x="-121023" y="2035871"/>
            <a:ext cx="1171687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  <a:p>
            <a:pPr algn="ctr"/>
            <a:r>
              <a:rPr lang="en-US" sz="4800" b="1" dirty="0">
                <a:solidFill>
                  <a:srgbClr val="00B050"/>
                </a:solidFill>
                <a:latin typeface="Verdana Pro"/>
                <a:cs typeface="Calibri"/>
              </a:rPr>
              <a:t> Code Demo</a:t>
            </a:r>
          </a:p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2834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0292-BD12-556D-275D-1DCDB7D5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0B094F-9CDD-7F53-0A0E-8BAFB65A9D50}"/>
              </a:ext>
            </a:extLst>
          </p:cNvPr>
          <p:cNvSpPr txBox="1"/>
          <p:nvPr/>
        </p:nvSpPr>
        <p:spPr>
          <a:xfrm>
            <a:off x="0" y="670539"/>
            <a:ext cx="119230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latin typeface="Studio-Feixen-Sans"/>
              </a:rPr>
              <a:t>Prompt caching</a:t>
            </a:r>
            <a:r>
              <a:rPr lang="en-US" dirty="0">
                <a:solidFill>
                  <a:schemeClr val="bg1"/>
                </a:solidFill>
                <a:latin typeface="Studio-Feixen-Sans"/>
              </a:rPr>
              <a:t> stores responses to frequently asked prompts. </a:t>
            </a:r>
          </a:p>
          <a:p>
            <a:endParaRPr lang="en-US" dirty="0">
              <a:solidFill>
                <a:schemeClr val="bg1"/>
              </a:solidFill>
              <a:latin typeface="Studio-Feixen-Sans"/>
            </a:endParaRPr>
          </a:p>
          <a:p>
            <a:r>
              <a:rPr lang="en-US" dirty="0">
                <a:solidFill>
                  <a:schemeClr val="bg1"/>
                </a:solidFill>
              </a:rPr>
              <a:t>This allows </a:t>
            </a:r>
            <a:r>
              <a:rPr lang="en-US" u="sng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 models</a:t>
            </a:r>
            <a:r>
              <a:rPr lang="en-US" dirty="0">
                <a:solidFill>
                  <a:schemeClr val="bg1"/>
                </a:solidFill>
              </a:rPr>
              <a:t> to skip redundant processing and retrieve pre-generated responses (cached tokens). It not only saves costs and reduces latency but also makes AI-powered interactions faster and more efficient.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Similar to other applications, the use of </a:t>
            </a:r>
            <a:r>
              <a:rPr lang="en-US" i="1" dirty="0">
                <a:solidFill>
                  <a:schemeClr val="bg1"/>
                </a:solidFill>
              </a:rPr>
              <a:t>cach</a:t>
            </a:r>
            <a:r>
              <a:rPr lang="en-US" dirty="0">
                <a:solidFill>
                  <a:schemeClr val="bg1"/>
                </a:solidFill>
              </a:rPr>
              <a:t>ing mechanisms can significantly help optimize LLM request costs and latency.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For instance, according to 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documentatio</a:t>
            </a:r>
            <a:r>
              <a:rPr lang="en-US" u="sng" dirty="0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, Prompt Caching can reduce latency by up to an impressive 80% and input token costs by up to 90%.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B5F50-C119-1E9B-8E98-D63FD72782CF}"/>
              </a:ext>
            </a:extLst>
          </p:cNvPr>
          <p:cNvSpPr txBox="1"/>
          <p:nvPr/>
        </p:nvSpPr>
        <p:spPr>
          <a:xfrm>
            <a:off x="0" y="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00B050"/>
                </a:solidFill>
                <a:latin typeface="Verdana Pro"/>
                <a:cs typeface="Calibri"/>
              </a:rPr>
              <a:t>Prompt Caching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A9F3E-2DC3-8DD6-AB66-23F03A991F6A}"/>
              </a:ext>
            </a:extLst>
          </p:cNvPr>
          <p:cNvSpPr txBox="1"/>
          <p:nvPr/>
        </p:nvSpPr>
        <p:spPr>
          <a:xfrm>
            <a:off x="0" y="3792071"/>
            <a:ext cx="120440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  <a:latin typeface="Studio-Feixen-Sans"/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Studio-Feixen-Sans"/>
              </a:rPr>
              <a:t>At its core, prompt caching works by storing prompts and their corresponding responses in a cache. When the same or a similar prompt is submitted again, the system retrieves the cached response rather than generating a new one. This avoids repetitive computation, speeds up response times, and reduces costs.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777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E9DE9-10BB-5D72-34D4-A4ECAFDD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083053-628A-15F0-A9C6-99FA3F531EE2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solidFill>
                  <a:srgbClr val="92D050"/>
                </a:solidFill>
              </a:rPr>
              <a:t>Prompt Caching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9BC78B-6BCC-26B1-2DD0-809E1B45E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50" y="133810"/>
            <a:ext cx="4341074" cy="643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16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1ECB-9EB2-ED18-F9FE-E927C895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502076-C52A-AD89-8695-FAE46A1E2560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solidFill>
                  <a:srgbClr val="92D050"/>
                </a:solidFill>
              </a:rPr>
              <a:t>Prompt Caching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DC905-29A6-8414-D7E3-9402323C2EAF}"/>
              </a:ext>
            </a:extLst>
          </p:cNvPr>
          <p:cNvSpPr txBox="1"/>
          <p:nvPr/>
        </p:nvSpPr>
        <p:spPr>
          <a:xfrm>
            <a:off x="475130" y="2721114"/>
            <a:ext cx="120306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92D050"/>
                </a:solidFill>
              </a:rPr>
              <a:t>Why caching is important in Gen AI and Agentic AI ?  </a:t>
            </a:r>
          </a:p>
        </p:txBody>
      </p:sp>
    </p:spTree>
    <p:extLst>
      <p:ext uri="{BB962C8B-B14F-4D97-AF65-F5344CB8AC3E}">
        <p14:creationId xmlns:p14="http://schemas.microsoft.com/office/powerpoint/2010/main" val="3655582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BA603-F3E8-BE83-05DD-6D950C28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39FFFB-0A55-247C-9643-945963989407}"/>
              </a:ext>
            </a:extLst>
          </p:cNvPr>
          <p:cNvSpPr txBox="1"/>
          <p:nvPr/>
        </p:nvSpPr>
        <p:spPr>
          <a:xfrm>
            <a:off x="0" y="0"/>
            <a:ext cx="11923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Studio-Feixen-Sans"/>
            </a:endParaRPr>
          </a:p>
          <a:p>
            <a:r>
              <a:rPr lang="en-US" b="1" i="0" u="none" strike="noStrike" dirty="0">
                <a:solidFill>
                  <a:srgbClr val="FFFF00"/>
                </a:solidFill>
                <a:effectLst/>
                <a:latin typeface="Studio-Feixen-Sans"/>
              </a:rPr>
              <a:t>Prompt caching</a:t>
            </a:r>
            <a:r>
              <a:rPr lang="en-US" b="0" i="0" u="none" strike="noStrike" dirty="0">
                <a:solidFill>
                  <a:srgbClr val="FFFF00"/>
                </a:solidFill>
                <a:effectLst/>
                <a:latin typeface="Studio-Feixen-Sans"/>
              </a:rPr>
              <a:t>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Studio-Feixen-Sans"/>
              </a:rPr>
              <a:t>stores responses to frequently asked prompts. </a:t>
            </a:r>
          </a:p>
          <a:p>
            <a:endParaRPr lang="en-US" dirty="0">
              <a:solidFill>
                <a:schemeClr val="bg1"/>
              </a:solidFill>
              <a:latin typeface="Studio-Feixen-Sans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2C8A9A-33A9-A240-254F-FAA8E6EA9498}"/>
              </a:ext>
            </a:extLst>
          </p:cNvPr>
          <p:cNvSpPr/>
          <p:nvPr/>
        </p:nvSpPr>
        <p:spPr>
          <a:xfrm>
            <a:off x="4935070" y="726142"/>
            <a:ext cx="2052918" cy="124609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Cache States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315B24-767B-A235-8E3D-0E01738689CA}"/>
              </a:ext>
            </a:extLst>
          </p:cNvPr>
          <p:cNvSpPr/>
          <p:nvPr/>
        </p:nvSpPr>
        <p:spPr>
          <a:xfrm>
            <a:off x="8014447" y="2611487"/>
            <a:ext cx="2052918" cy="12460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Cache Miss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B2A009-6CA4-BCBB-EBBD-CA0850451ED0}"/>
              </a:ext>
            </a:extLst>
          </p:cNvPr>
          <p:cNvSpPr/>
          <p:nvPr/>
        </p:nvSpPr>
        <p:spPr>
          <a:xfrm>
            <a:off x="2124635" y="2611487"/>
            <a:ext cx="2052918" cy="12460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Cache Hit 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3BE5801-983B-C972-1404-2F8118085F68}"/>
              </a:ext>
            </a:extLst>
          </p:cNvPr>
          <p:cNvCxnSpPr>
            <a:stCxn id="2" idx="1"/>
            <a:endCxn id="7" idx="0"/>
          </p:cNvCxnSpPr>
          <p:nvPr/>
        </p:nvCxnSpPr>
        <p:spPr>
          <a:xfrm rot="10800000" flipV="1">
            <a:off x="3151094" y="1349189"/>
            <a:ext cx="1783976" cy="126229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850B40EF-48EA-4E0B-55A7-4B0A69B7EFFD}"/>
              </a:ext>
            </a:extLst>
          </p:cNvPr>
          <p:cNvCxnSpPr>
            <a:stCxn id="2" idx="3"/>
            <a:endCxn id="4" idx="0"/>
          </p:cNvCxnSpPr>
          <p:nvPr/>
        </p:nvCxnSpPr>
        <p:spPr>
          <a:xfrm>
            <a:off x="6987988" y="1349189"/>
            <a:ext cx="2052918" cy="126229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CFDBFF-3256-3BA2-BAEA-88F4C921AEDB}"/>
              </a:ext>
            </a:extLst>
          </p:cNvPr>
          <p:cNvSpPr txBox="1"/>
          <p:nvPr/>
        </p:nvSpPr>
        <p:spPr>
          <a:xfrm>
            <a:off x="89646" y="4308482"/>
            <a:ext cx="121023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Studio-Feixen-Sans"/>
              </a:rPr>
              <a:t>A </a:t>
            </a:r>
            <a:r>
              <a:rPr lang="en-US" b="1" dirty="0">
                <a:solidFill>
                  <a:srgbClr val="00B050"/>
                </a:solidFill>
                <a:latin typeface="Studio-Feixen-Sans"/>
              </a:rPr>
              <a:t>cache hit </a:t>
            </a:r>
            <a:r>
              <a:rPr lang="en-US" dirty="0">
                <a:solidFill>
                  <a:schemeClr val="bg1"/>
                </a:solidFill>
                <a:latin typeface="Studio-Feixen-Sans"/>
              </a:rPr>
              <a:t>occurs when the requested data is found in the cache, allowing for a quick and cheap retrieval.</a:t>
            </a:r>
          </a:p>
          <a:p>
            <a:endParaRPr lang="en-US" dirty="0">
              <a:solidFill>
                <a:schemeClr val="bg1"/>
              </a:solidFill>
              <a:latin typeface="Studio-Feixen-Sans"/>
            </a:endParaRPr>
          </a:p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rgbClr val="00B050"/>
                </a:solidFill>
              </a:rPr>
              <a:t>cache miss </a:t>
            </a:r>
            <a:r>
              <a:rPr lang="en-US" dirty="0">
                <a:solidFill>
                  <a:schemeClr val="bg1"/>
                </a:solidFill>
              </a:rPr>
              <a:t>occurs when the data is not in the cache, forcing the application to access the original source, which is more expensive and time-consuming.</a:t>
            </a:r>
          </a:p>
        </p:txBody>
      </p:sp>
    </p:spTree>
    <p:extLst>
      <p:ext uri="{BB962C8B-B14F-4D97-AF65-F5344CB8AC3E}">
        <p14:creationId xmlns:p14="http://schemas.microsoft.com/office/powerpoint/2010/main" val="726654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3724-B4BB-8523-4BB5-E98563B6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A852BE-D0C8-FE85-5151-AAD696581544}"/>
              </a:ext>
            </a:extLst>
          </p:cNvPr>
          <p:cNvSpPr txBox="1"/>
          <p:nvPr/>
        </p:nvSpPr>
        <p:spPr>
          <a:xfrm>
            <a:off x="125505" y="1694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Where Is Prompt Cache Stored?</a:t>
            </a:r>
            <a:endParaRPr lang="en-IN" b="1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802CE-4758-B620-3B4B-8EB85EB9F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80" y="825657"/>
            <a:ext cx="7802756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94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13AF-1409-A580-AC5C-FE1DA8DB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C49E0C-A2C9-C0E3-C3D6-ECB093854614}"/>
              </a:ext>
            </a:extLst>
          </p:cNvPr>
          <p:cNvSpPr txBox="1"/>
          <p:nvPr/>
        </p:nvSpPr>
        <p:spPr>
          <a:xfrm>
            <a:off x="89647" y="1066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Scenario: A Lawyer Using an AI Assistant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3206B-5B44-8EE8-E7CA-31D0F99D89AC}"/>
              </a:ext>
            </a:extLst>
          </p:cNvPr>
          <p:cNvSpPr txBox="1"/>
          <p:nvPr/>
        </p:nvSpPr>
        <p:spPr>
          <a:xfrm>
            <a:off x="89646" y="591688"/>
            <a:ext cx="11438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Setup: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A lawyer uploads a </a:t>
            </a:r>
            <a:r>
              <a:rPr lang="en-US" b="1" dirty="0">
                <a:solidFill>
                  <a:schemeClr val="bg1"/>
                </a:solidFill>
              </a:rPr>
              <a:t>50-page legal contract</a:t>
            </a:r>
            <a:r>
              <a:rPr lang="en-US" dirty="0">
                <a:solidFill>
                  <a:schemeClr val="bg1"/>
                </a:solidFill>
              </a:rPr>
              <a:t> and asks multiple questions about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E16493-03E5-30FB-E248-992DA02F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1238019"/>
            <a:ext cx="6795248" cy="1387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81EEAA-5B53-A9A2-8818-05F7CC292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6" y="2735059"/>
            <a:ext cx="4625789" cy="1456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305EB3-05F7-52DA-DB3F-C057FD4D8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6" y="4301150"/>
            <a:ext cx="6266330" cy="150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49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2C4A-3BA8-3283-FCE9-4F34D58F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BA0F7C-B92D-8953-4AF9-51A27191C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970" y="709926"/>
            <a:ext cx="7087214" cy="1798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CD57FC-AFDF-FCCB-9F96-620CCF74AC38}"/>
              </a:ext>
            </a:extLst>
          </p:cNvPr>
          <p:cNvSpPr txBox="1"/>
          <p:nvPr/>
        </p:nvSpPr>
        <p:spPr>
          <a:xfrm>
            <a:off x="285596" y="3105834"/>
            <a:ext cx="116208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contract is read once, its meaning is saved in GPU memory, and every new question just looks up that saved meaning like a bookmark in the model's brain.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807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EF62-A77E-677A-C76A-6C79947F8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80B0A2-E707-DF1E-E0E9-F9C017AF68A4}"/>
              </a:ext>
            </a:extLst>
          </p:cNvPr>
          <p:cNvSpPr txBox="1"/>
          <p:nvPr/>
        </p:nvSpPr>
        <p:spPr>
          <a:xfrm>
            <a:off x="116541" y="2590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You are a customer support bot for a pizza shop.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CA8C7-582F-E450-84E2-538A2B51047B}"/>
              </a:ext>
            </a:extLst>
          </p:cNvPr>
          <p:cNvSpPr txBox="1"/>
          <p:nvPr/>
        </p:nvSpPr>
        <p:spPr>
          <a:xfrm>
            <a:off x="116541" y="628419"/>
            <a:ext cx="118334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System Prompt (same every time):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i="1" dirty="0">
                <a:solidFill>
                  <a:schemeClr val="bg1"/>
                </a:solidFill>
              </a:rPr>
              <a:t>"You are a pizza bot. We sell Margherita, Pepperoni, BBQ Chicken. Timings: 9am-11pm..."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Every user asks a different question: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 1 → </a:t>
            </a:r>
            <a:r>
              <a:rPr lang="en-US" i="1" dirty="0">
                <a:solidFill>
                  <a:schemeClr val="bg1"/>
                </a:solidFill>
              </a:rPr>
              <a:t>"What pizzas do you have?"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 2 → </a:t>
            </a:r>
            <a:r>
              <a:rPr lang="en-US" i="1" dirty="0">
                <a:solidFill>
                  <a:schemeClr val="bg1"/>
                </a:solidFill>
              </a:rPr>
              <a:t>"What time do you close?"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Without KV Cache</a:t>
            </a:r>
            <a:r>
              <a:rPr lang="en-US" dirty="0">
                <a:solidFill>
                  <a:schemeClr val="bg1"/>
                </a:solidFill>
              </a:rPr>
              <a:t> → The model re-reads the entire system prompt for every user ❌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With KV Cache</a:t>
            </a:r>
            <a:r>
              <a:rPr lang="en-US" dirty="0">
                <a:solidFill>
                  <a:schemeClr val="bg1"/>
                </a:solidFill>
              </a:rPr>
              <a:t> → The K &amp; V of the system prompt are computed </a:t>
            </a:r>
            <a:r>
              <a:rPr lang="en-US" b="1" dirty="0">
                <a:solidFill>
                  <a:schemeClr val="bg1"/>
                </a:solidFill>
              </a:rPr>
              <a:t>once</a:t>
            </a:r>
            <a:r>
              <a:rPr lang="en-US" dirty="0">
                <a:solidFill>
                  <a:schemeClr val="bg1"/>
                </a:solidFill>
              </a:rPr>
              <a:t> and reused for every user. Only the new question is processed ✅</a:t>
            </a:r>
          </a:p>
        </p:txBody>
      </p:sp>
    </p:spTree>
    <p:extLst>
      <p:ext uri="{BB962C8B-B14F-4D97-AF65-F5344CB8AC3E}">
        <p14:creationId xmlns:p14="http://schemas.microsoft.com/office/powerpoint/2010/main" val="1773869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F2A6-83E8-2FFA-23F8-59D595441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A4819-B24C-06A8-A81F-EB85B9BCA7C7}"/>
              </a:ext>
            </a:extLst>
          </p:cNvPr>
          <p:cNvSpPr txBox="1"/>
          <p:nvPr/>
        </p:nvSpPr>
        <p:spPr>
          <a:xfrm>
            <a:off x="-121023" y="2035871"/>
            <a:ext cx="1171687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  <a:p>
            <a:pPr algn="ctr"/>
            <a:r>
              <a:rPr lang="en-US" sz="4800" b="1" dirty="0">
                <a:solidFill>
                  <a:srgbClr val="00B050"/>
                </a:solidFill>
                <a:latin typeface="Verdana Pro"/>
                <a:cs typeface="Calibri"/>
              </a:rPr>
              <a:t> Code Demo</a:t>
            </a:r>
          </a:p>
          <a:p>
            <a:pPr algn="ctr"/>
            <a:endParaRPr lang="en-US" sz="4800" b="1" dirty="0">
              <a:solidFill>
                <a:srgbClr val="00B050"/>
              </a:solidFill>
              <a:latin typeface="Verdan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6878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4744-0437-CC15-B929-47003B2C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1;p18">
            <a:extLst>
              <a:ext uri="{FF2B5EF4-FFF2-40B4-BE49-F238E27FC236}">
                <a16:creationId xmlns:a16="http://schemas.microsoft.com/office/drawing/2014/main" id="{3C889D24-3A19-570A-5640-B1C23410E9A9}"/>
              </a:ext>
            </a:extLst>
          </p:cNvPr>
          <p:cNvSpPr txBox="1"/>
          <p:nvPr/>
        </p:nvSpPr>
        <p:spPr>
          <a:xfrm>
            <a:off x="-873224" y="35859"/>
            <a:ext cx="5368189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 eaLnBrk="1" fontAlgn="auto" latinLnBrk="0" hangingPunct="1">
              <a:buClr>
                <a:srgbClr val="6BC5FF"/>
              </a:buClr>
              <a:buSzPct val="122000"/>
              <a:tabLst/>
              <a:defRPr kumimoji="0" sz="2400" kern="0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Roboto" panose="02000000000000000000" pitchFamily="2" charset="0"/>
                <a:cs typeface="Roboto"/>
              </a:defRPr>
            </a:lvl1pPr>
          </a:lstStyle>
          <a:p>
            <a:pPr algn="ctr"/>
            <a:r>
              <a:rPr lang="en-IN" sz="4400" b="1" dirty="0">
                <a:solidFill>
                  <a:srgbClr val="00B050"/>
                </a:solidFill>
                <a:latin typeface="Montserrat"/>
                <a:ea typeface="Roboto"/>
                <a:sym typeface="Roboto"/>
              </a:rPr>
              <a:t>Conclusion</a:t>
            </a:r>
            <a:endParaRPr lang="en-US" sz="44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60115-4901-9ABD-9DE6-193548CE0683}"/>
              </a:ext>
            </a:extLst>
          </p:cNvPr>
          <p:cNvSpPr txBox="1"/>
          <p:nvPr/>
        </p:nvSpPr>
        <p:spPr>
          <a:xfrm>
            <a:off x="268941" y="2442899"/>
            <a:ext cx="11627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Guardrails keep bad data out of the cache and the model. Cache keeps cost and latency under control. Together they are what makes production-grade agentic AI viable.</a:t>
            </a:r>
            <a:endParaRPr lang="en-IN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884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6AB7-9B34-8DE2-D42A-8D6B74FB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1;p18">
            <a:extLst>
              <a:ext uri="{FF2B5EF4-FFF2-40B4-BE49-F238E27FC236}">
                <a16:creationId xmlns:a16="http://schemas.microsoft.com/office/drawing/2014/main" id="{767F37A5-3A37-80AD-0044-2186A99A85BD}"/>
              </a:ext>
            </a:extLst>
          </p:cNvPr>
          <p:cNvSpPr txBox="1"/>
          <p:nvPr/>
        </p:nvSpPr>
        <p:spPr>
          <a:xfrm>
            <a:off x="3411905" y="3090446"/>
            <a:ext cx="5368189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 eaLnBrk="1" fontAlgn="auto" latinLnBrk="0" hangingPunct="1">
              <a:buClr>
                <a:srgbClr val="6BC5FF"/>
              </a:buClr>
              <a:buSzPct val="122000"/>
              <a:tabLst/>
              <a:defRPr kumimoji="0" sz="2400" kern="0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Roboto" panose="02000000000000000000" pitchFamily="2" charset="0"/>
                <a:cs typeface="Roboto"/>
              </a:defRPr>
            </a:lvl1pPr>
          </a:lstStyle>
          <a:p>
            <a:pPr algn="ctr"/>
            <a:r>
              <a:rPr lang="en-IN" sz="4400" b="1" dirty="0">
                <a:solidFill>
                  <a:srgbClr val="00B050"/>
                </a:solidFill>
                <a:latin typeface="Montserrat"/>
                <a:ea typeface="Roboto"/>
                <a:sym typeface="Roboto"/>
              </a:rPr>
              <a:t>Any Questions?</a:t>
            </a:r>
            <a:endParaRPr lang="en-US" sz="4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028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77B6-33A8-5C16-6D86-AD8E44A2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1;p18">
            <a:extLst>
              <a:ext uri="{FF2B5EF4-FFF2-40B4-BE49-F238E27FC236}">
                <a16:creationId xmlns:a16="http://schemas.microsoft.com/office/drawing/2014/main" id="{193AFE82-0954-D385-9AE0-3D06EAEE0E20}"/>
              </a:ext>
            </a:extLst>
          </p:cNvPr>
          <p:cNvSpPr txBox="1"/>
          <p:nvPr/>
        </p:nvSpPr>
        <p:spPr>
          <a:xfrm>
            <a:off x="3411905" y="3090446"/>
            <a:ext cx="5368189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 eaLnBrk="1" fontAlgn="auto" latinLnBrk="0" hangingPunct="1">
              <a:buClr>
                <a:srgbClr val="6BC5FF"/>
              </a:buClr>
              <a:buSzPct val="122000"/>
              <a:tabLst/>
              <a:defRPr kumimoji="0" sz="2400" kern="0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Roboto" panose="02000000000000000000" pitchFamily="2" charset="0"/>
                <a:cs typeface="Roboto"/>
              </a:defRPr>
            </a:lvl1pPr>
          </a:lstStyle>
          <a:p>
            <a:pPr algn="ctr"/>
            <a:r>
              <a:rPr lang="en-IN" sz="4400" b="1" dirty="0">
                <a:solidFill>
                  <a:srgbClr val="00B050"/>
                </a:solidFill>
                <a:latin typeface="Montserrat"/>
                <a:ea typeface="Roboto"/>
                <a:sym typeface="Roboto"/>
              </a:rPr>
              <a:t>Thank You</a:t>
            </a:r>
            <a:endParaRPr lang="en-US" sz="4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3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b8a4b99c-9b0e-4f59-aa2a-8b6a3de16c94" xsi:nil="true"/>
    <SharedWithUsers xmlns="eb6d4c3c-27e6-40f7-a5be-c2d429b5cb83">
      <UserInfo>
        <DisplayName>Padmini Prasad</DisplayName>
        <AccountId>288</AccountId>
        <AccountType/>
      </UserInfo>
    </SharedWithUsers>
    <lcf76f155ced4ddcb4097134ff3c332f xmlns="b8a4b99c-9b0e-4f59-aa2a-8b6a3de16c94">
      <Terms xmlns="http://schemas.microsoft.com/office/infopath/2007/PartnerControls"/>
    </lcf76f155ced4ddcb4097134ff3c332f>
    <TaxCatchAll xmlns="eb6d4c3c-27e6-40f7-a5be-c2d429b5cb8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4783CF63E7D41B69B4E41169D380C" ma:contentTypeVersion="15" ma:contentTypeDescription="Create a new document." ma:contentTypeScope="" ma:versionID="7a00cfe796a11df96c1d691d73b52823">
  <xsd:schema xmlns:xsd="http://www.w3.org/2001/XMLSchema" xmlns:xs="http://www.w3.org/2001/XMLSchema" xmlns:p="http://schemas.microsoft.com/office/2006/metadata/properties" xmlns:ns2="b8a4b99c-9b0e-4f59-aa2a-8b6a3de16c94" xmlns:ns3="eb6d4c3c-27e6-40f7-a5be-c2d429b5cb83" targetNamespace="http://schemas.microsoft.com/office/2006/metadata/properties" ma:root="true" ma:fieldsID="4ec0ebb07fdc485f5405f8dfdd91a426" ns2:_="" ns3:_="">
    <xsd:import namespace="b8a4b99c-9b0e-4f59-aa2a-8b6a3de16c94"/>
    <xsd:import namespace="eb6d4c3c-27e6-40f7-a5be-c2d429b5cb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4b99c-9b0e-4f59-aa2a-8b6a3de16c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6d4c3c-27e6-40f7-a5be-c2d429b5cb8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2fa157d-dbc5-475c-98c6-31cf1364f70c}" ma:internalName="TaxCatchAll" ma:showField="CatchAllData" ma:web="eb6d4c3c-27e6-40f7-a5be-c2d429b5cb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A34B22-CB82-4B22-83DD-90DA34BE4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2B7AEE-ACBB-432D-84F6-438D2DA8CF26}">
  <ds:schemaRefs>
    <ds:schemaRef ds:uri="http://schemas.microsoft.com/office/infopath/2007/PartnerControls"/>
    <ds:schemaRef ds:uri="http://purl.org/dc/elements/1.1/"/>
    <ds:schemaRef ds:uri="http://purl.org/dc/terms/"/>
    <ds:schemaRef ds:uri="b8a4b99c-9b0e-4f59-aa2a-8b6a3de16c94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eb6d4c3c-27e6-40f7-a5be-c2d429b5cb8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C05ACA9-355C-4907-B27D-C68FF6E27A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a4b99c-9b0e-4f59-aa2a-8b6a3de16c94"/>
    <ds:schemaRef ds:uri="eb6d4c3c-27e6-40f7-a5be-c2d429b5cb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19937</TotalTime>
  <Words>683</Words>
  <Application>Microsoft Office PowerPoint</Application>
  <PresentationFormat>Widescreen</PresentationFormat>
  <Paragraphs>100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Montserrat</vt:lpstr>
      <vt:lpstr>Studio-Feixen-Sans</vt:lpstr>
      <vt:lpstr>Verdana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Mochitha Vijayan</dc:creator>
  <cp:lastModifiedBy>SAGAR IIT JODHPUR</cp:lastModifiedBy>
  <cp:revision>225</cp:revision>
  <dcterms:created xsi:type="dcterms:W3CDTF">2023-09-20T12:58:25Z</dcterms:created>
  <dcterms:modified xsi:type="dcterms:W3CDTF">2026-05-23T05:04:22Z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1018300</vt:r8>
  </property>
  <property fmtid="{D5CDD505-2E9C-101B-9397-08002B2CF9AE}" pid="3" name="MediaServiceImageTags">
    <vt:lpwstr/>
  </property>
  <property fmtid="{D5CDD505-2E9C-101B-9397-08002B2CF9AE}" pid="4" name="ContentTypeId">
    <vt:lpwstr>0x010100E9B4783CF63E7D41B69B4E41169D380C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